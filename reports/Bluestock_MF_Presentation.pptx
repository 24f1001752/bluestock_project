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h Abhyankar" userId="fe6c6627dc3adb76" providerId="LiveId" clId="{F1E373FA-9751-42C1-B462-F81672683018}"/>
    <pc:docChg chg="custSel modSld">
      <pc:chgData name="Anish Abhyankar" userId="fe6c6627dc3adb76" providerId="LiveId" clId="{F1E373FA-9751-42C1-B462-F81672683018}" dt="2026-06-12T06:09:08.138" v="56" actId="14100"/>
      <pc:docMkLst>
        <pc:docMk/>
      </pc:docMkLst>
      <pc:sldChg chg="addSp delSp modSp mod">
        <pc:chgData name="Anish Abhyankar" userId="fe6c6627dc3adb76" providerId="LiveId" clId="{F1E373FA-9751-42C1-B462-F81672683018}" dt="2026-06-12T06:09:08.138" v="56" actId="14100"/>
        <pc:sldMkLst>
          <pc:docMk/>
          <pc:sldMk cId="0" sldId="256"/>
        </pc:sldMkLst>
        <pc:spChg chg="del">
          <ac:chgData name="Anish Abhyankar" userId="fe6c6627dc3adb76" providerId="LiveId" clId="{F1E373FA-9751-42C1-B462-F81672683018}" dt="2026-06-12T06:01:29.899" v="7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Anish Abhyankar" userId="fe6c6627dc3adb76" providerId="LiveId" clId="{F1E373FA-9751-42C1-B462-F81672683018}" dt="2026-06-12T06:01:55.793" v="10" actId="14100"/>
          <ac:spMkLst>
            <pc:docMk/>
            <pc:sldMk cId="0" sldId="256"/>
            <ac:spMk id="5" creationId="{00000000-0000-0000-0000-000000000000}"/>
          </ac:spMkLst>
        </pc:spChg>
        <pc:spChg chg="mod">
          <ac:chgData name="Anish Abhyankar" userId="fe6c6627dc3adb76" providerId="LiveId" clId="{F1E373FA-9751-42C1-B462-F81672683018}" dt="2026-06-12T06:02:24.442" v="14" actId="122"/>
          <ac:spMkLst>
            <pc:docMk/>
            <pc:sldMk cId="0" sldId="256"/>
            <ac:spMk id="6" creationId="{00000000-0000-0000-0000-000000000000}"/>
          </ac:spMkLst>
        </pc:spChg>
        <pc:spChg chg="mod">
          <ac:chgData name="Anish Abhyankar" userId="fe6c6627dc3adb76" providerId="LiveId" clId="{F1E373FA-9751-42C1-B462-F81672683018}" dt="2026-06-12T06:09:08.138" v="56" actId="14100"/>
          <ac:spMkLst>
            <pc:docMk/>
            <pc:sldMk cId="0" sldId="256"/>
            <ac:spMk id="8" creationId="{00000000-0000-0000-0000-000000000000}"/>
          </ac:spMkLst>
        </pc:spChg>
        <pc:picChg chg="add mod">
          <ac:chgData name="Anish Abhyankar" userId="fe6c6627dc3adb76" providerId="LiveId" clId="{F1E373FA-9751-42C1-B462-F81672683018}" dt="2026-06-12T06:08:49.443" v="55" actId="1076"/>
          <ac:picMkLst>
            <pc:docMk/>
            <pc:sldMk cId="0" sldId="256"/>
            <ac:picMk id="23" creationId="{18368D7E-12F4-E5D4-333C-4F73A96CF8F5}"/>
          </ac:picMkLst>
        </pc:picChg>
      </pc:sldChg>
      <pc:sldChg chg="addSp modSp mod">
        <pc:chgData name="Anish Abhyankar" userId="fe6c6627dc3adb76" providerId="LiveId" clId="{F1E373FA-9751-42C1-B462-F81672683018}" dt="2026-06-12T06:06:30.476" v="35" actId="14100"/>
        <pc:sldMkLst>
          <pc:docMk/>
          <pc:sldMk cId="0" sldId="264"/>
        </pc:sldMkLst>
        <pc:picChg chg="add mod">
          <ac:chgData name="Anish Abhyankar" userId="fe6c6627dc3adb76" providerId="LiveId" clId="{F1E373FA-9751-42C1-B462-F81672683018}" dt="2026-06-12T06:05:42.555" v="27" actId="14100"/>
          <ac:picMkLst>
            <pc:docMk/>
            <pc:sldMk cId="0" sldId="264"/>
            <ac:picMk id="15" creationId="{61A1D8A2-8AF8-46EF-C5D0-9A71315C404C}"/>
          </ac:picMkLst>
        </pc:picChg>
        <pc:picChg chg="add mod">
          <ac:chgData name="Anish Abhyankar" userId="fe6c6627dc3adb76" providerId="LiveId" clId="{F1E373FA-9751-42C1-B462-F81672683018}" dt="2026-06-12T06:06:30.476" v="35" actId="14100"/>
          <ac:picMkLst>
            <pc:docMk/>
            <pc:sldMk cId="0" sldId="264"/>
            <ac:picMk id="17" creationId="{BC1AB75A-6EA7-2E61-B2F2-6B3F9B8D293F}"/>
          </ac:picMkLst>
        </pc:picChg>
      </pc:sldChg>
      <pc:sldChg chg="addSp modSp mod">
        <pc:chgData name="Anish Abhyankar" userId="fe6c6627dc3adb76" providerId="LiveId" clId="{F1E373FA-9751-42C1-B462-F81672683018}" dt="2026-06-12T06:08:14.678" v="53" actId="14100"/>
        <pc:sldMkLst>
          <pc:docMk/>
          <pc:sldMk cId="0" sldId="265"/>
        </pc:sldMkLst>
        <pc:picChg chg="add mod">
          <ac:chgData name="Anish Abhyankar" userId="fe6c6627dc3adb76" providerId="LiveId" clId="{F1E373FA-9751-42C1-B462-F81672683018}" dt="2026-06-12T06:07:19.654" v="44" actId="14100"/>
          <ac:picMkLst>
            <pc:docMk/>
            <pc:sldMk cId="0" sldId="265"/>
            <ac:picMk id="15" creationId="{3965CF03-091A-EFBE-AA6E-FB1A0F0A2DFC}"/>
          </ac:picMkLst>
        </pc:picChg>
        <pc:picChg chg="add mod">
          <ac:chgData name="Anish Abhyankar" userId="fe6c6627dc3adb76" providerId="LiveId" clId="{F1E373FA-9751-42C1-B462-F81672683018}" dt="2026-06-12T06:08:14.678" v="53" actId="14100"/>
          <ac:picMkLst>
            <pc:docMk/>
            <pc:sldMk cId="0" sldId="265"/>
            <ac:picMk id="17" creationId="{0DA8D598-F0DD-DBAC-6A52-5D0757816A3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F3C"/>
                </a:solidFill>
                <a:latin typeface="Arial"/>
              </a:rPr>
              <a:t>Monthly SIP Inflows (Rs. Crore) — Jan 2022 to Dec 2025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(Rs. Crore)</c:v>
                </c:pt>
              </c:strCache>
            </c:strRef>
          </c:tx>
          <c:spPr>
            <a:ln w="38100" cap="flat">
              <a:solidFill>
                <a:srgbClr val="0A7E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7E8C"/>
              </a:solidFill>
              <a:ln w="9525" cap="flat">
                <a:solidFill>
                  <a:srgbClr val="0A7E8C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Jan'22</c:v>
                </c:pt>
                <c:pt idx="1">
                  <c:v>Jul'22</c:v>
                </c:pt>
                <c:pt idx="2">
                  <c:v>Jan'23</c:v>
                </c:pt>
                <c:pt idx="3">
                  <c:v>Jul'23</c:v>
                </c:pt>
                <c:pt idx="4">
                  <c:v>Jan'24</c:v>
                </c:pt>
                <c:pt idx="5">
                  <c:v>Jul'24</c:v>
                </c:pt>
                <c:pt idx="6">
                  <c:v>Jan'25</c:v>
                </c:pt>
                <c:pt idx="7">
                  <c:v>Jul'25</c:v>
                </c:pt>
                <c:pt idx="8">
                  <c:v>Dec'25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11200</c:v>
                </c:pt>
                <c:pt idx="1">
                  <c:v>13000</c:v>
                </c:pt>
                <c:pt idx="2">
                  <c:v>14500</c:v>
                </c:pt>
                <c:pt idx="3">
                  <c:v>16500</c:v>
                </c:pt>
                <c:pt idx="4">
                  <c:v>18800</c:v>
                </c:pt>
                <c:pt idx="5">
                  <c:v>22000</c:v>
                </c:pt>
                <c:pt idx="6">
                  <c:v>25000</c:v>
                </c:pt>
                <c:pt idx="7">
                  <c:v>28500</c:v>
                </c:pt>
                <c:pt idx="8">
                  <c:v>31002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BB4-425D-9E58-8D1415B569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F3C"/>
                </a:solidFill>
                <a:latin typeface="Arial"/>
              </a:rPr>
              <a:t>AUM by Fund House — Dec 2025 (Rs. Crore)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(Rs. Crore)</c:v>
                </c:pt>
              </c:strCache>
            </c:strRef>
          </c:tx>
          <c:spPr>
            <a:solidFill>
              <a:srgbClr val="0D1F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181-46BE-B3BB-C1163B3C9EDC}"/>
              </c:ext>
            </c:extLst>
          </c:dPt>
          <c:dPt>
            <c:idx val="1"/>
            <c:invertIfNegative val="0"/>
            <c:bubble3D val="0"/>
            <c:spPr>
              <a:solidFill>
                <a:srgbClr val="1D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81-46BE-B3BB-C1163B3C9EDC}"/>
              </c:ext>
            </c:extLst>
          </c:dPt>
          <c:dPt>
            <c:idx val="2"/>
            <c:invertIfNegative val="0"/>
            <c:bubble3D val="0"/>
            <c:spPr>
              <a:solidFill>
                <a:srgbClr val="2A54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81-46BE-B3BB-C1163B3C9EDC}"/>
              </c:ext>
            </c:extLst>
          </c:dPt>
          <c:dPt>
            <c:idx val="3"/>
            <c:invertIfNegative val="0"/>
            <c:bubble3D val="0"/>
            <c:spPr>
              <a:solidFill>
                <a:srgbClr val="3B6E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181-46BE-B3BB-C1163B3C9EDC}"/>
              </c:ext>
            </c:extLst>
          </c:dPt>
          <c:dPt>
            <c:idx val="4"/>
            <c:invertIfNegative val="0"/>
            <c:bubble3D val="0"/>
            <c:spPr>
              <a:solidFill>
                <a:srgbClr val="4B87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181-46BE-B3BB-C1163B3C9EDC}"/>
              </c:ext>
            </c:extLst>
          </c:dPt>
          <c:dPt>
            <c:idx val="5"/>
            <c:invertIfNegative val="0"/>
            <c:bubble3D val="0"/>
            <c:spPr>
              <a:solidFill>
                <a:srgbClr val="5E9E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181-46BE-B3BB-C1163B3C9EDC}"/>
              </c:ext>
            </c:extLst>
          </c:dPt>
          <c:dPt>
            <c:idx val="6"/>
            <c:invertIfNegative val="0"/>
            <c:bubble3D val="0"/>
            <c:spPr>
              <a:solidFill>
                <a:srgbClr val="72B2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181-46BE-B3BB-C1163B3C9EDC}"/>
              </c:ext>
            </c:extLst>
          </c:dPt>
          <c:dPt>
            <c:idx val="7"/>
            <c:invertIfNegative val="0"/>
            <c:bubble3D val="0"/>
            <c:spPr>
              <a:solidFill>
                <a:srgbClr val="87C4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181-46BE-B3BB-C1163B3C9ED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SBI MF</c:v>
                </c:pt>
                <c:pt idx="1">
                  <c:v>ICICI Pru</c:v>
                </c:pt>
                <c:pt idx="2">
                  <c:v>HDFC MF</c:v>
                </c:pt>
                <c:pt idx="3">
                  <c:v>Nippon</c:v>
                </c:pt>
                <c:pt idx="4">
                  <c:v>Axis</c:v>
                </c:pt>
                <c:pt idx="5">
                  <c:v>Kotak</c:v>
                </c:pt>
                <c:pt idx="6">
                  <c:v>Mirae</c:v>
                </c:pt>
                <c:pt idx="7">
                  <c:v>UTI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1250000</c:v>
                </c:pt>
                <c:pt idx="1">
                  <c:v>1074000</c:v>
                </c:pt>
                <c:pt idx="2">
                  <c:v>930000</c:v>
                </c:pt>
                <c:pt idx="3">
                  <c:v>310000</c:v>
                </c:pt>
                <c:pt idx="4">
                  <c:v>270000</c:v>
                </c:pt>
                <c:pt idx="5">
                  <c:v>250000</c:v>
                </c:pt>
                <c:pt idx="6">
                  <c:v>200000</c:v>
                </c:pt>
                <c:pt idx="7">
                  <c:v>185000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181-46BE-B3BB-C1163B3C9E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F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D1F3C"/>
                </a:solidFill>
                <a:latin typeface="Arial"/>
              </a:rPr>
              <a:t>Investors by Age Group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 Group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F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FD0-4E9D-90C5-C822AA1DADB3}"/>
              </c:ext>
            </c:extLst>
          </c:dPt>
          <c:dPt>
            <c:idx val="1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D0-4E9D-90C5-C822AA1DADB3}"/>
              </c:ext>
            </c:extLst>
          </c:dPt>
          <c:dPt>
            <c:idx val="2"/>
            <c:bubble3D val="0"/>
            <c:spPr>
              <a:solidFill>
                <a:srgbClr val="12A8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D0-4E9D-90C5-C822AA1DADB3}"/>
              </c:ext>
            </c:extLst>
          </c:dPt>
          <c:dPt>
            <c:idx val="3"/>
            <c:bubble3D val="0"/>
            <c:spPr>
              <a:solidFill>
                <a:srgbClr val="F4A6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FD0-4E9D-90C5-C822AA1DADB3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FD0-4E9D-90C5-C822AA1DADB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FD0-4E9D-90C5-C822AA1DADB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FD0-4E9D-90C5-C822AA1DADB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FD0-4E9D-90C5-C822AA1DADB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FD0-4E9D-90C5-C822AA1DADB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FD0-4E9D-90C5-C822AA1DADB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34</c:v>
                </c:pt>
                <c:pt idx="2">
                  <c:v>28</c:v>
                </c:pt>
                <c:pt idx="3">
                  <c:v>18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FD0-4E9D-90C5-C822AA1DA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F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091-4304-BABF-4B48249B27C9}"/>
              </c:ext>
            </c:extLst>
          </c:dPt>
          <c:dPt>
            <c:idx val="1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91-4304-BABF-4B48249B27C9}"/>
              </c:ext>
            </c:extLst>
          </c:dPt>
          <c:dPt>
            <c:idx val="2"/>
            <c:bubble3D val="0"/>
            <c:spPr>
              <a:solidFill>
                <a:srgbClr val="12A8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91-4304-BABF-4B48249B27C9}"/>
              </c:ext>
            </c:extLst>
          </c:dPt>
          <c:dPt>
            <c:idx val="3"/>
            <c:bubble3D val="0"/>
            <c:spPr>
              <a:solidFill>
                <a:srgbClr val="F4A6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91-4304-BABF-4B48249B27C9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091-4304-BABF-4B48249B27C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91-4304-BABF-4B48249B27C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91-4304-BABF-4B48249B27C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91-4304-BABF-4B48249B27C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91-4304-BABF-4B48249B27C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91-4304-BABF-4B48249B27C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3yr CAGR</c:v>
                </c:pt>
                <c:pt idx="1">
                  <c:v>Sharpe Ratio</c:v>
                </c:pt>
                <c:pt idx="2">
                  <c:v>Alpha</c:v>
                </c:pt>
                <c:pt idx="3">
                  <c:v>Expense Ratio</c:v>
                </c:pt>
                <c:pt idx="4">
                  <c:v>Max Drawdown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091-4304-BABF-4B48249B27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56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project, company, and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core problems this platform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datasets from AMFI India, mfapi.in, NSE/BSE.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Five-layer architecture. SQLite star schema at the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SIP inflows grew 3x in 4 years. Rs.31,002 Cr all-time high in Dec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AUM bar chart and age group demographics.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metrics computed from scratch using NAV history and OLS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Composite scorecard ranks all 40 funds 0-100.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pages 1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pages 3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key findings from the full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All 8 objectives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A7E8C">
              <a:alpha val="25000"/>
            </a:srgbClr>
          </a:solidFill>
          <a:ln w="12700">
            <a:solidFill>
              <a:srgbClr val="0A7E8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12A8B8">
              <a:alpha val="18000"/>
            </a:srgbClr>
          </a:solidFill>
          <a:ln w="12700">
            <a:solidFill>
              <a:srgbClr val="12A8B8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4747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BLUESTOCK FINTECH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-1" y="960120"/>
            <a:ext cx="921137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Mutual Fund Analytics 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2A8B8"/>
                </a:solidFill>
              </a:rPr>
              <a:t>End-to-End Data Engineering · ETL Pipeline · Interactive Dashboard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1463040" cy="5486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43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C9D9"/>
                </a:solidFill>
              </a:rPr>
              <a:t>Anish Abhyankar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8C9D9"/>
                </a:solidFill>
              </a:rPr>
              <a:t>Data Analyst Intern  ·  June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1605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696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45354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DD4"/>
                </a:solidFill>
              </a:rPr>
              <a:t>Schemes Tracked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51760" y="41605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41696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46K+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51760" y="45354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DD4"/>
                </a:solidFill>
              </a:rPr>
              <a:t>NAV Rows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00600" y="41605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41696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55K+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0600" y="45354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DD4"/>
                </a:solidFill>
              </a:rPr>
              <a:t>Transactions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49440" y="41605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41696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4.5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49440" y="45354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DD4"/>
                </a:solidFill>
              </a:rPr>
              <a:t>Years of Data</a:t>
            </a:r>
            <a:endParaRPr lang="en-US" sz="8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368D7E-12F4-E5D4-333C-4F73A96CF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469" y="62"/>
            <a:ext cx="1116531" cy="11005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F3C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</a:rPr>
              <a:t>Why does this platform need to exist?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81328"/>
            <a:ext cx="502920" cy="50292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" y="1389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F3C"/>
                </a:solidFill>
              </a:rPr>
              <a:t>Data Fragmentation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16459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NAV, AUM, SIP and portfolio data scattered across AMFI, NSE, BSE in different formats. No unified database exists.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322576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505456"/>
            <a:ext cx="502920" cy="50292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70432" y="24140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F3C"/>
                </a:solidFill>
              </a:rPr>
              <a:t>No Risk-Adjusted Comparison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70432" y="26700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Investors cannot compare funds on Sharpe ratio, Alpha or Beta. Raw NAV requires complex transformation.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529584"/>
            <a:ext cx="502920" cy="50292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70432" y="34381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F3C"/>
                </a:solidFill>
              </a:rPr>
              <a:t>No Benchmark Tracking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36941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Retail investors don't know if their fund beats the index. Tracking error requires both NAV and benchmark data.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1298448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1481328"/>
            <a:ext cx="502920" cy="50292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13832" y="1389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F3C"/>
                </a:solidFill>
              </a:rPr>
              <a:t>Investor Behaviour Blind Spot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13832" y="16459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AMCs have limited visibility into how demographics and geography influence SIP amounts and redemptions.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322576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0328" y="2505456"/>
            <a:ext cx="502920" cy="50292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13832" y="24140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F3C"/>
                </a:solidFill>
              </a:rPr>
              <a:t>Slow Static Reporting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13832" y="26700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Monthly MF reports are PDFs taking days to prepare. Stakeholders need live, self-service dashboards.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</a:rPr>
              <a:t>Data Sources &amp; Datasets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61D"/>
                </a:solidFill>
              </a:rPr>
              <a:t>10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9D9"/>
                </a:solidFill>
              </a:rPr>
              <a:t>Datasets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06040" y="8686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886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61D"/>
                </a:solidFill>
              </a:rPr>
              <a:t>40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606040" y="1344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9D9"/>
                </a:solidFill>
              </a:rPr>
              <a:t>Fund Schemes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86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61D"/>
                </a:solidFill>
              </a:rPr>
              <a:t>87K+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1344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9D9"/>
                </a:solidFill>
              </a:rPr>
              <a:t>Total Rows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03720" y="8686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886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61D"/>
                </a:solidFill>
              </a:rPr>
              <a:t>4.5 Yrs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03720" y="1344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9D9"/>
                </a:solidFill>
              </a:rPr>
              <a:t>NAV History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549640" cy="3218688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fund_master.csv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Master list of 40 schemes — AMFI codes, AMC, category, expense ratio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nav_history.csv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~46,000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Daily NAV Jan 2022–May 2026, anchored to real mfapi.in values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aum_by_fund_house.csv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Quarterly AUM for top 10 fund houses, 2022–2025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monthly_sip_inflows.csv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Month-wise SIP inflows — real AMFI Monthly Note data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scheme_performance.csv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Sharpe, Sortino, Alpha, Beta, Max Drawdown per scheme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investor_transactions.csv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55,000+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SIP/Lumpsum/Redemption records across 5,000 investors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benchmark_indices.csv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~8,000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Daily Nifty 50, Nifty 100, BSE SmallCap closing values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 &amp; ETL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A8B8"/>
                </a:solidFill>
              </a:rPr>
              <a:t>Extract  →  Transform  →  Load  →  Analyse  →  Visualise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1325880"/>
            <a:ext cx="502920" cy="502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61D"/>
                </a:solidFill>
              </a:rPr>
              <a:t>EXTRACT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AMFI Daily NAV TXT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mfapi.in REST API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3182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NSE / BSE Bhavcopy CSV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6210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Pre-packaged CSV Datasets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47088" y="2907792"/>
            <a:ext cx="137160" cy="54864"/>
          </a:xfrm>
          <a:prstGeom prst="rect">
            <a:avLst/>
          </a:prstGeom>
          <a:solidFill>
            <a:srgbClr val="12A8B8"/>
          </a:solidFill>
          <a:ln w="12700">
            <a:solidFill>
              <a:srgbClr val="12A8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23444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7460" y="1325880"/>
            <a:ext cx="502920" cy="502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74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61D"/>
                </a:solidFill>
              </a:rPr>
              <a:t>TRANSFORM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304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Pandas Cleaning Pipeline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2743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Forward-fill weekends/holidays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03120" y="3182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Compute daily returns &amp; CAGR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03120" y="36210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Normalise fund names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584448" y="2907792"/>
            <a:ext cx="137160" cy="54864"/>
          </a:xfrm>
          <a:prstGeom prst="rect">
            <a:avLst/>
          </a:prstGeom>
          <a:solidFill>
            <a:srgbClr val="12A8B8"/>
          </a:solidFill>
          <a:ln w="12700">
            <a:solidFill>
              <a:srgbClr val="12A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23444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155E8A"/>
          </a:solidFill>
          <a:ln w="12700">
            <a:solidFill>
              <a:srgbClr val="155E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4820" y="1325880"/>
            <a:ext cx="502920" cy="502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48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61D"/>
                </a:solidFill>
              </a:rPr>
              <a:t>LOAD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2304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SQLite (development)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40480" y="2743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5-table Star Schema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0" y="3182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dim_fund · fact_nav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40480" y="36210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fact_transactions · fact_performance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21808" y="2907792"/>
            <a:ext cx="137160" cy="54864"/>
          </a:xfrm>
          <a:prstGeom prst="rect">
            <a:avLst/>
          </a:prstGeom>
          <a:solidFill>
            <a:srgbClr val="12A8B8"/>
          </a:solidFill>
          <a:ln w="12700">
            <a:solidFill>
              <a:srgbClr val="12A8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123444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0E4B6E"/>
          </a:solidFill>
          <a:ln w="12700">
            <a:solidFill>
              <a:srgbClr val="0E4B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12180" y="1325880"/>
            <a:ext cx="502920" cy="502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21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61D"/>
                </a:solidFill>
              </a:rPr>
              <a:t>ANALYSE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2304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Jupyter Notebooks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77840" y="2743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Sharpe · Sortino · Alpha · Beta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77840" y="3182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VaR · CVaR · Max Drawdown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77840" y="36210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Fund Scorecard &amp; HHI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59168" y="2907792"/>
            <a:ext cx="137160" cy="54864"/>
          </a:xfrm>
          <a:prstGeom prst="rect">
            <a:avLst/>
          </a:prstGeom>
          <a:solidFill>
            <a:srgbClr val="12A8B8"/>
          </a:solidFill>
          <a:ln w="12700">
            <a:solidFill>
              <a:srgbClr val="12A8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123444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49540" y="1325880"/>
            <a:ext cx="502920" cy="502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495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22376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61D"/>
                </a:solidFill>
              </a:rPr>
              <a:t>VISUALISE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00" y="2304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Power BI Dashboard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0" y="2743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4 Interactive Pages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15200" y="3182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Slicers &amp; Drill-through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0" y="36210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0"/>
                </a:solidFill>
              </a:rPr>
              <a:t>Export PDF / PNG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2A8B8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</a:rPr>
              <a:t>Star Schema: dim_fund  ·  dim_date  ·  fact_nav  ·  fact_transactions  ·  fact_performance  ·  fact_aum  ·  fact_sip_industry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7E8C"/>
                </a:solidFill>
              </a:rPr>
              <a:t>EDA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C"/>
                </a:solidFill>
              </a:rPr>
              <a:t>SIP Inflow — India's Savings Revolution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261872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80760" y="13350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7E8C"/>
                </a:solidFill>
              </a:rPr>
              <a:t>Rs. 31,002 Cr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080760" y="1810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SIP Inflow — Dec 2025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All-Time High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80760" y="24688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80760" y="25420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</a:rPr>
              <a:t>9.35 Cr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080760" y="3017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Active SIP Accounts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as of Dec 2025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80760" y="3675888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80760" y="37490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61D"/>
                </a:solidFill>
              </a:rPr>
              <a:t>3×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080760" y="4224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Growth in monthly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inflows 2022–2025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7E8C"/>
                </a:solidFill>
              </a:rPr>
              <a:t>EDA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C"/>
                </a:solidFill>
              </a:rPr>
              <a:t>AUM Dominance &amp; Investor Demographics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70432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669280" y="1170432"/>
          <a:ext cx="3200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669280" y="3547872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E8EFF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42432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742432" y="391363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SBI leads with Rs. 12.5 lakh crore AUM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Top 3 AMCs control ~40% of industry AUM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26–35 age group drives majority of SIPs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T30 cities: ~65% of total investment volume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</a:rPr>
              <a:t>Fund Performance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Computing every metric that professional analysts use — from scratch using NAV history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1645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CAGR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Compound Annual Growth Rate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185623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(NAV_end / NAV_start)^(1/n) − 1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10128" y="11887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18872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371600"/>
            <a:ext cx="2651760" cy="16459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Sharpe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9856" y="1572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Risk-Adjusted Return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9856" y="185623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(Rp − Rf) / σ  ×  √252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3056" y="11887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18872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371600"/>
            <a:ext cx="2651760" cy="1645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Sortino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2784" y="1572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Downside Risk Penalised Return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72784" y="185623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(Rp − Rf) / σ_downside  ×  √252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6060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55E8A"/>
          </a:solidFill>
          <a:ln w="12700">
            <a:solidFill>
              <a:srgbClr val="155E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788920"/>
            <a:ext cx="2651760" cy="164592"/>
          </a:xfrm>
          <a:prstGeom prst="rect">
            <a:avLst/>
          </a:prstGeom>
          <a:solidFill>
            <a:srgbClr val="155E8A"/>
          </a:solidFill>
          <a:ln w="12700">
            <a:solidFill>
              <a:srgbClr val="155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Alpha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29900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Excess Return vs Benchmark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327355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OLS intercept × 252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10128" y="26060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10128" y="26060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E4B6E"/>
          </a:solidFill>
          <a:ln w="12700">
            <a:solidFill>
              <a:srgbClr val="0E4B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788920"/>
            <a:ext cx="2651760" cy="164592"/>
          </a:xfrm>
          <a:prstGeom prst="rect">
            <a:avLst/>
          </a:prstGeom>
          <a:solidFill>
            <a:srgbClr val="0E4B6E"/>
          </a:solidFill>
          <a:ln w="12700">
            <a:solidFill>
              <a:srgbClr val="0E4B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Beta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19856" y="29900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Market Sensitivity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19856" y="327355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Cov(Rp, Rm) / Var(Rm)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63056" y="26060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26060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3056" y="2788920"/>
            <a:ext cx="265176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Max DD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72784" y="29900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Worst Peak-to-Trough Loss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72784" y="327355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min(NAV / running_max − 1)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</a:rPr>
              <a:t>Fund Scorecard — Composite Ranking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458200" cy="640080"/>
          </a:xfrm>
          <a:prstGeom prst="roundRect">
            <a:avLst>
              <a:gd name="adj" fmla="val 11429"/>
            </a:avLst>
          </a:prstGeom>
          <a:solidFill>
            <a:srgbClr val="0A7E8C">
              <a:alpha val="12000"/>
            </a:srgbClr>
          </a:solidFill>
          <a:ln w="12700">
            <a:solidFill>
              <a:srgbClr val="0A7E8C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458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</a:rPr>
              <a:t>Score  =  30% × 3yr CAGR rank  +  25% × Sharpe rank  +  20% × Alpha rank  +  15% × Expense ratio rank⁻¹  +  10% × Max Drawdown rank⁻¹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27632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627632"/>
          <a:ext cx="4754880" cy="318211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3-Year CAGR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Primary measure of long-term return generation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Sharpe Ratio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Rewards return per unit of total risk taken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Alpha vs Benchmark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Measures active fund manager's skill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Expense Ratio (inv)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Lower cost = more return passes to investor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Max Drawdown (inv)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Penalises funds with severe peak-to-trough losses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Interactive Dashboard — Power BI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A8B8"/>
                </a:solidFill>
              </a:rPr>
              <a:t>4 pages · Slicers on every page · Drill-through capability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794760"/>
          </a:xfrm>
          <a:prstGeom prst="roundRect">
            <a:avLst>
              <a:gd name="adj" fmla="val 241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12A8B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4023360" cy="24688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Page 1 — Industry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KPI Cards: AUM, SIP Inflow, Folios, Schemes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Line chart: Industry AUM 2022–2025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Bar chart: AUM by Fund House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Slicer: Year / Quarter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794760"/>
          </a:xfrm>
          <a:prstGeom prst="roundRect">
            <a:avLst>
              <a:gd name="adj" fmla="val 241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12A8B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25880"/>
            <a:ext cx="4023360" cy="24688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97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Page 2 — Fund Performance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Scatter: Risk vs Return (bubble = AUM)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Sortable Fund Scorecard table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Line: NAV vs Nifty 50 benchmark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Slicer: Fund House, Category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1A1D8A2-8AF8-46EF-C5D0-9A71315C4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4023360" cy="33347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1AB75A-6EA7-2E61-B2F2-6B3F9B8D2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1" y="1572768"/>
            <a:ext cx="4023360" cy="33192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Interactive Dashboard — Power BI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A8B8"/>
                </a:solidFill>
              </a:rPr>
              <a:t>Investor behaviour and market trend analysis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794760"/>
          </a:xfrm>
          <a:prstGeom prst="roundRect">
            <a:avLst>
              <a:gd name="adj" fmla="val 241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4A61D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4023360" cy="24688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</a:rPr>
              <a:t>Page 3 — Investor Analytics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Map: Investment amount by state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Donut: SIP vs Lumpsum vs Redemption split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Bar: Average SIP amount by age group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Slicer: State, Age Group, City Tier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794760"/>
          </a:xfrm>
          <a:prstGeom prst="roundRect">
            <a:avLst>
              <a:gd name="adj" fmla="val 241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4A61D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25880"/>
            <a:ext cx="4023360" cy="24688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97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</a:rPr>
              <a:t>Page 4 — SIP &amp; Market Trends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Dual-axis: SIP Inflow (bar) + Nifty 50 (line)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Matrix heatmap: Category inflows by month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Bar: Top 5 categories by net inflow FY25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4E8F0"/>
                </a:solidFill>
              </a:rPr>
              <a:t>Slicer: Date range slider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65CF03-091A-EFBE-AA6E-FB1A0F0A2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572768"/>
            <a:ext cx="4023359" cy="33192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A8D598-F0DD-DBAC-6A52-5D0757816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572769"/>
            <a:ext cx="4023360" cy="33192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4164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097280"/>
            <a:ext cx="594360" cy="59436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</a:rPr>
              <a:t>SIP Inflows Hit All-Time High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80160" y="1362456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Rs. 31,002 Cr in Dec 2025. Monthly inflows grew 3× in 4 years reflecting deepening retail participation.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4164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594360" cy="59436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</a:rPr>
              <a:t>SBI Dominates AUM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32120" y="1362456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Rs. 12.5 lakh crore AUM — largest AMC in India. Top 3 AMCs control ~40% of total industry assets.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404164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450592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50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40487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</a:rPr>
              <a:t>30% of SIP Investors Are At-Risk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80160" y="2715768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Irregular payment gaps exceeding 35 days flagged via SIP continuity analysis. Maharashtra leads at-risk count.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313432"/>
            <a:ext cx="404164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450592"/>
            <a:ext cx="594360" cy="594360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450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240487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</a:rPr>
              <a:t>Large Cap Funds vs Nifty 100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32120" y="2715768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Most actively managed Large Cap funds underperform the Nifty 100 index net of expenses over 3 years.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666744"/>
            <a:ext cx="404164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803904"/>
            <a:ext cx="594360" cy="594360"/>
          </a:xfrm>
          <a:prstGeom prst="ellipse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039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75818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</a:rPr>
              <a:t>Small Cap: High Return, High VaR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80160" y="406908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Highest 5yr CAGR but 95% VaR exceeds -2% daily. Suitable only for High risk investors with 5+ year horizon.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666744"/>
            <a:ext cx="404164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8EF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803904"/>
            <a:ext cx="594360" cy="59436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8039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375818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</a:rPr>
              <a:t>26–35 Age Group Drives SIPs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32120" y="406908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Largest segment of investors. 2024 cohort starts with higher average SIP amounts than 2022 cohort.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A5060">
              <a:alpha val="30000"/>
            </a:srgbClr>
          </a:solidFill>
          <a:ln w="12700">
            <a:solidFill>
              <a:srgbClr val="0A506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1920240"/>
            <a:ext cx="2743200" cy="5486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2A8B8"/>
                </a:solidFill>
              </a:rPr>
              <a:t>Mutual Fund Analytics Platform — Complete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670048"/>
            <a:ext cx="694944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2A8B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7889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</a:rPr>
              <a:t>✓  ETL Pipeline (Python)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</a:rPr>
              <a:t>✓  SQLite Star Schema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</a:rPr>
              <a:t>✓  EDA Notebook (15+ charts)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</a:rPr>
              <a:t>✓  Performance Analytics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27889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</a:rPr>
              <a:t>✓  Advanced Analytics + VaR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</a:rPr>
              <a:t>✓  Power BI Dashboard (4 pages)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</a:rPr>
              <a:t>✓  Fund Recommender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8DFF0"/>
                </a:solidFill>
              </a:rPr>
              <a:t>✓  Final Report + Slides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BDD4"/>
                </a:solidFill>
              </a:rPr>
              <a:t>Anish Abhyankar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BBDD4"/>
                </a:solidFill>
              </a:rPr>
              <a:t>Data Analyst Intern  ·  Bluestock Fintech  ·  June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1316</Words>
  <Application>Microsoft Office PowerPoint</Application>
  <PresentationFormat>On-screen Show (16:9)</PresentationFormat>
  <Paragraphs>254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Anish Abhyankar</dc:creator>
  <cp:lastModifiedBy>Anish Abhyankar</cp:lastModifiedBy>
  <cp:revision>1</cp:revision>
  <dcterms:created xsi:type="dcterms:W3CDTF">2026-06-12T05:48:09Z</dcterms:created>
  <dcterms:modified xsi:type="dcterms:W3CDTF">2026-06-12T06:09:09Z</dcterms:modified>
</cp:coreProperties>
</file>